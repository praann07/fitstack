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73" r:id="rId2"/>
    <p:sldId id="257" r:id="rId3"/>
    <p:sldId id="258" r:id="rId4"/>
    <p:sldId id="259" r:id="rId5"/>
    <p:sldId id="274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8100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BE7FB-4CA2-1539-4D14-022A8D2EB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C81B64-CCBA-16BD-1626-AE981A2C53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CC40AD-D63F-D1DE-846D-22A74460E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97B03-C169-DF69-D612-AA52994645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918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FBF0A-1BDA-0D2A-7EF8-943F1DF4D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FC1038-F9FC-7ED5-CC05-67E814A7C7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0B22F5-230D-C766-2143-1DA6C9A688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B5CC5-F814-5653-C2C6-A075D18960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1214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A2EF9C-B4B0-AA5B-F37C-C18356991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4FF3A53-A155-7658-4736-CE0108F12106}"/>
              </a:ext>
            </a:extLst>
          </p:cNvPr>
          <p:cNvSpPr/>
          <p:nvPr/>
        </p:nvSpPr>
        <p:spPr>
          <a:xfrm>
            <a:off x="6014336" y="6163056"/>
            <a:ext cx="73152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424DDE9-D83D-8A77-E8BF-D84BD624AF1B}"/>
              </a:ext>
            </a:extLst>
          </p:cNvPr>
          <p:cNvSpPr/>
          <p:nvPr/>
        </p:nvSpPr>
        <p:spPr>
          <a:xfrm>
            <a:off x="640080" y="2286000"/>
            <a:ext cx="10908792" cy="9144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4B3E682-7723-3B9D-BC1A-835E74C4A4CE}"/>
              </a:ext>
            </a:extLst>
          </p:cNvPr>
          <p:cNvSpPr/>
          <p:nvPr/>
        </p:nvSpPr>
        <p:spPr>
          <a:xfrm>
            <a:off x="640080" y="2468880"/>
            <a:ext cx="100584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FitStack</a:t>
            </a:r>
            <a:endParaRPr lang="en-US" sz="4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BD5C0DC-6C0F-1D5A-C654-A4CF86016259}"/>
              </a:ext>
            </a:extLst>
          </p:cNvPr>
          <p:cNvSpPr/>
          <p:nvPr/>
        </p:nvSpPr>
        <p:spPr>
          <a:xfrm>
            <a:off x="640080" y="3337560"/>
            <a:ext cx="100584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Relational Database for Training, Nutrition &amp; Progress Tracking</a:t>
            </a:r>
            <a:endParaRPr lang="en-US" sz="1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0C26084-83FE-43B0-6BD0-0CF06D5A27A4}"/>
              </a:ext>
            </a:extLst>
          </p:cNvPr>
          <p:cNvSpPr/>
          <p:nvPr/>
        </p:nvSpPr>
        <p:spPr>
          <a:xfrm>
            <a:off x="640080" y="4114800"/>
            <a:ext cx="10908792" cy="9144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B1A7447-D6AF-EB2C-E656-FE11C4DE2035}"/>
              </a:ext>
            </a:extLst>
          </p:cNvPr>
          <p:cNvSpPr/>
          <p:nvPr/>
        </p:nvSpPr>
        <p:spPr>
          <a:xfrm>
            <a:off x="64008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Zeroth Review — Course 22AIE303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8364AD9-F079-448E-2AD9-6F2457AAD1B8}"/>
              </a:ext>
            </a:extLst>
          </p:cNvPr>
          <p:cNvSpPr/>
          <p:nvPr/>
        </p:nvSpPr>
        <p:spPr>
          <a:xfrm>
            <a:off x="640080" y="4892040"/>
            <a:ext cx="13716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5E956BE-4B30-E3B3-2072-5387BF2F61D1}"/>
              </a:ext>
            </a:extLst>
          </p:cNvPr>
          <p:cNvSpPr/>
          <p:nvPr/>
        </p:nvSpPr>
        <p:spPr>
          <a:xfrm>
            <a:off x="2011680" y="4892040"/>
            <a:ext cx="54864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Mamidala Som Praneeth Babu  CB.SC.U4AIE24029</a:t>
            </a:r>
            <a:endParaRPr lang="en-US" sz="1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37B3243-880E-0EC8-9607-41652CDBE2F3}"/>
              </a:ext>
            </a:extLst>
          </p:cNvPr>
          <p:cNvSpPr/>
          <p:nvPr/>
        </p:nvSpPr>
        <p:spPr>
          <a:xfrm>
            <a:off x="640080" y="5257800"/>
            <a:ext cx="13716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A0934B9-CD88-1C9C-FBB1-FB5861B2118D}"/>
              </a:ext>
            </a:extLst>
          </p:cNvPr>
          <p:cNvSpPr/>
          <p:nvPr/>
        </p:nvSpPr>
        <p:spPr>
          <a:xfrm>
            <a:off x="2011680" y="5257800"/>
            <a:ext cx="54864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Charith Dasari CB.SC.U4AIE24014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B872281-EC31-5C0D-FC5C-0548E0B6E00E}"/>
              </a:ext>
            </a:extLst>
          </p:cNvPr>
          <p:cNvSpPr/>
          <p:nvPr/>
        </p:nvSpPr>
        <p:spPr>
          <a:xfrm>
            <a:off x="640080" y="5623560"/>
            <a:ext cx="13716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947D221-49C4-F7FD-0BC8-6D6F5643B8CD}"/>
              </a:ext>
            </a:extLst>
          </p:cNvPr>
          <p:cNvSpPr/>
          <p:nvPr/>
        </p:nvSpPr>
        <p:spPr>
          <a:xfrm>
            <a:off x="2011680" y="5623560"/>
            <a:ext cx="54864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pic>
        <p:nvPicPr>
          <p:cNvPr id="16" name="Picture 15" descr="Branding - Amrita Vishwa Vidyapeetham">
            <a:extLst>
              <a:ext uri="{FF2B5EF4-FFF2-40B4-BE49-F238E27FC236}">
                <a16:creationId xmlns:a16="http://schemas.microsoft.com/office/drawing/2014/main" id="{EF2A9A8B-2D1A-FEDE-80B9-82DDA38D3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9317" y="270218"/>
            <a:ext cx="8790317" cy="199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597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4572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0"/>
            <a:ext cx="8686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and objectives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938528"/>
            <a:ext cx="4572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938528"/>
            <a:ext cx="8686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/ actors and the use case diagram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05456"/>
            <a:ext cx="4572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505456"/>
            <a:ext cx="8686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and relational schema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072384"/>
            <a:ext cx="4572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3072384"/>
            <a:ext cx="8686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modules and how they interact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639312"/>
            <a:ext cx="4572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3639312"/>
            <a:ext cx="8686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concepts used, mapped to actual features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206240"/>
            <a:ext cx="4572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4206240"/>
            <a:ext cx="8686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database operations (CRUD, joins, aggregates)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773168"/>
            <a:ext cx="4572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4773168"/>
            <a:ext cx="8686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verification on the deployed database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5340096"/>
            <a:ext cx="4572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5340096"/>
            <a:ext cx="8686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 so far, and what's planned next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FitStack — DBMS Zeroth Review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8813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lifters currently need two or three separate apps — one for workout logging, one for calorie/macro tracking, one for body-weight tracking — none of which share a data model.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51560" y="21488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fragmentation — </a:t>
            </a: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nutrition, and body-composition data live in disconnected silos (e.g. Hevy, MyFitnessPal, a separate tracker).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798064"/>
            <a:ext cx="2743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706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targets — </a:t>
            </a: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Calorie/macro targets are set once from a formula and never adapt to a user's actual logged weight-trend and intake.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3419856"/>
            <a:ext cx="2743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3392424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cross-domain insight — </a:t>
            </a: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stalled lift and an under-eating week look unrelated even when one causes the other, because no single schema links them.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4041648"/>
            <a:ext cx="2743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401421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schema — </a:t>
            </a: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today links workout volume, calorie intake, and body metrics in one queryable relational database.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892040"/>
            <a:ext cx="10908792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956048"/>
            <a:ext cx="104241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insight: fitness data is inherently relational; existing apps treat it as flat, disconnected records. FitStack solves this with one normalized PostgreSQL schema spanning all three domains under one user account.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FitStack — DBMS Zeroth Review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1280160"/>
            <a:ext cx="103784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fully relational schema spanning training, nutrition, and progress domains, with correct FK relationships.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084832"/>
            <a:ext cx="4114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2084832"/>
            <a:ext cx="103784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per-user data isolation structurally at the database layer (Postgres Row-Level Security) rather than in application code, so no code path can bypass it.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889504"/>
            <a:ext cx="4114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2889504"/>
            <a:ext cx="103784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an adaptive TDEE (calorie expenditure) estimator computed from a user's real logged weight-trend and intake data, replacing a static BMR formula.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694176"/>
            <a:ext cx="4114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3694176"/>
            <a:ext cx="103784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automatic personal-record and training-plateau detection from raw workout set-log history.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498848"/>
            <a:ext cx="4114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4498848"/>
            <a:ext cx="103784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controlled-access pilot model — signup plus manual admin approval — suitable for a small trusted user group.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303520"/>
            <a:ext cx="4114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5303520"/>
            <a:ext cx="103784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schema, constraints, and access-control rules end-to-end against a live deployed database, not just in isolation.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FitStack — DBMS Zeroth Review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964100-57C4-0160-4E8A-9182AA195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645A353-B6BF-6E16-F230-71B5773BB12F}"/>
              </a:ext>
            </a:extLst>
          </p:cNvPr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FitStack’s</a:t>
            </a:r>
            <a:r>
              <a:rPr lang="en-US" sz="2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Tech Stack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8BC22A8-E9CB-BD05-78E9-33CDBED6D25B}"/>
              </a:ext>
            </a:extLst>
          </p:cNvPr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12240DA-A06A-4F53-6AC3-371B9029B61F}"/>
              </a:ext>
            </a:extLst>
          </p:cNvPr>
          <p:cNvSpPr/>
          <p:nvPr/>
        </p:nvSpPr>
        <p:spPr>
          <a:xfrm>
            <a:off x="457200" y="1234440"/>
            <a:ext cx="53949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3443B97-A4BF-EBC9-6609-B44A91CA3D22}"/>
              </a:ext>
            </a:extLst>
          </p:cNvPr>
          <p:cNvSpPr/>
          <p:nvPr/>
        </p:nvSpPr>
        <p:spPr>
          <a:xfrm>
            <a:off x="274320" y="1508760"/>
            <a:ext cx="5394960" cy="178308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4308CA5-CD41-317A-F4B5-D6F55D548938}"/>
              </a:ext>
            </a:extLst>
          </p:cNvPr>
          <p:cNvSpPr/>
          <p:nvPr/>
        </p:nvSpPr>
        <p:spPr>
          <a:xfrm>
            <a:off x="640080" y="1636776"/>
            <a:ext cx="5029200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50" dirty="0">
                <a:latin typeface="+mj-lt"/>
              </a:rPr>
              <a:t>React + TypeScript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50" dirty="0">
                <a:latin typeface="+mj-lt"/>
              </a:rPr>
              <a:t>handles the login screen, dashboard, workouts, nutrition tracking, and progress pages</a:t>
            </a:r>
            <a:endParaRPr lang="en-US" sz="1250" dirty="0">
              <a:latin typeface="+mj-lt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7A7F9DB-62CF-9AC5-27A1-BCA359B4BF91}"/>
              </a:ext>
            </a:extLst>
          </p:cNvPr>
          <p:cNvSpPr/>
          <p:nvPr/>
        </p:nvSpPr>
        <p:spPr>
          <a:xfrm>
            <a:off x="6172200" y="1234440"/>
            <a:ext cx="53949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7042715-A243-1228-31F4-9B0A40E713A4}"/>
              </a:ext>
            </a:extLst>
          </p:cNvPr>
          <p:cNvSpPr/>
          <p:nvPr/>
        </p:nvSpPr>
        <p:spPr>
          <a:xfrm>
            <a:off x="6217920" y="1481328"/>
            <a:ext cx="5394960" cy="178308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F931246-CC1E-5210-2225-0CA821F30DFF}"/>
              </a:ext>
            </a:extLst>
          </p:cNvPr>
          <p:cNvSpPr/>
          <p:nvPr/>
        </p:nvSpPr>
        <p:spPr>
          <a:xfrm>
            <a:off x="6355080" y="1636776"/>
            <a:ext cx="5029200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50" dirty="0">
                <a:latin typeface="+mj-lt"/>
              </a:rPr>
              <a:t>Postgres database schema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50" dirty="0">
                <a:latin typeface="+mj-lt"/>
              </a:rPr>
              <a:t>Auth in </a:t>
            </a:r>
            <a:r>
              <a:rPr lang="en-IN" sz="1250" dirty="0" err="1">
                <a:latin typeface="+mj-lt"/>
              </a:rPr>
              <a:t>Supabase</a:t>
            </a:r>
            <a:r>
              <a:rPr lang="en-IN" sz="1250" dirty="0">
                <a:latin typeface="+mj-lt"/>
              </a:rPr>
              <a:t> Auth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50" dirty="0">
                <a:latin typeface="+mj-lt"/>
              </a:rPr>
              <a:t>It stores all user data, handles login/auth, and enforces rules for who can see/edit data.</a:t>
            </a:r>
          </a:p>
          <a:p>
            <a:endParaRPr lang="en-IN" sz="1250" dirty="0">
              <a:latin typeface="+mj-lt"/>
            </a:endParaRPr>
          </a:p>
          <a:p>
            <a:endParaRPr lang="en-IN" sz="1250" dirty="0">
              <a:latin typeface="+mj-lt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E25E99F-620A-C1C3-100F-2A6A32D19D19}"/>
              </a:ext>
            </a:extLst>
          </p:cNvPr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A53C39F-A3B7-67B1-25CF-62454B9C0401}"/>
              </a:ext>
            </a:extLst>
          </p:cNvPr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FitStack — DBMS Zeroth Review</a:t>
            </a:r>
            <a:endParaRPr lang="en-US" sz="900" dirty="0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C71773EB-3189-568A-CBA8-64A48791CFE4}"/>
              </a:ext>
            </a:extLst>
          </p:cNvPr>
          <p:cNvSpPr/>
          <p:nvPr/>
        </p:nvSpPr>
        <p:spPr>
          <a:xfrm>
            <a:off x="3030460" y="3931920"/>
            <a:ext cx="5394960" cy="178308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64B425-B871-F3EE-D82C-69DD2A23F80B}"/>
              </a:ext>
            </a:extLst>
          </p:cNvPr>
          <p:cNvSpPr txBox="1"/>
          <p:nvPr/>
        </p:nvSpPr>
        <p:spPr>
          <a:xfrm>
            <a:off x="3260785" y="4623758"/>
            <a:ext cx="4934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+mj-lt"/>
              </a:rPr>
              <a:t>the frontend talks to </a:t>
            </a:r>
            <a:r>
              <a:rPr lang="en-IN" sz="1400" dirty="0" err="1">
                <a:latin typeface="+mj-lt"/>
              </a:rPr>
              <a:t>Supabase</a:t>
            </a:r>
            <a:r>
              <a:rPr lang="en-IN" sz="1400" dirty="0">
                <a:latin typeface="+mj-lt"/>
              </a:rPr>
              <a:t> directly for data and authentication</a:t>
            </a:r>
          </a:p>
        </p:txBody>
      </p:sp>
      <p:sp>
        <p:nvSpPr>
          <p:cNvPr id="24" name="Arrow: Bent-Up 23">
            <a:extLst>
              <a:ext uri="{FF2B5EF4-FFF2-40B4-BE49-F238E27FC236}">
                <a16:creationId xmlns:a16="http://schemas.microsoft.com/office/drawing/2014/main" id="{BF8012A3-A9CC-FFA5-61AB-3AD1E3B86E01}"/>
              </a:ext>
            </a:extLst>
          </p:cNvPr>
          <p:cNvSpPr/>
          <p:nvPr/>
        </p:nvSpPr>
        <p:spPr>
          <a:xfrm>
            <a:off x="8471140" y="3236976"/>
            <a:ext cx="1451825" cy="1616611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Arrow: Bent-Up 25">
            <a:extLst>
              <a:ext uri="{FF2B5EF4-FFF2-40B4-BE49-F238E27FC236}">
                <a16:creationId xmlns:a16="http://schemas.microsoft.com/office/drawing/2014/main" id="{48080CE4-4D47-D309-813C-E08D4F867963}"/>
              </a:ext>
            </a:extLst>
          </p:cNvPr>
          <p:cNvSpPr/>
          <p:nvPr/>
        </p:nvSpPr>
        <p:spPr>
          <a:xfrm rot="5400000">
            <a:off x="1234062" y="3153335"/>
            <a:ext cx="1657889" cy="1934904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984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/ Actors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899563"/>
              </p:ext>
            </p:extLst>
          </p:nvPr>
        </p:nvGraphicFramePr>
        <p:xfrm>
          <a:off x="640080" y="1280160"/>
          <a:ext cx="10908792" cy="43891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1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user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Registers, gets approved, logs workouts / food / weight, views the dashboard, manages routines and custom exercises / foods. Covers lifting-focused, nutrition-focused, and progress-focused usage — all against the same account and schema.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(approver)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new signups and sets profiles.approved = true before an account can write training/nutrition/progress data.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yet a formal database approval — currently we  has direct project access via </a:t>
                      </a:r>
                      <a:r>
                        <a:rPr lang="en-US" sz="125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</a:t>
                      </a: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Stated as a known, deliberate limitation at this stage.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(seed / library data)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 human actor — library exercises/foods rows (is_custom = false, created_by = NULL) are owned by no user and visible to everyone, distinct from user-created custom content.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FitStack — DBMS Zeroth Review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over a Class Diagram — the ER and Relational Schema slides already cover the data model; this shows how the two actors use the system.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04672" y="269748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3008376"/>
            <a:ext cx="9144" cy="512064"/>
          </a:xfrm>
          <a:prstGeom prst="line">
            <a:avLst/>
          </a:prstGeom>
          <a:noFill/>
          <a:ln w="15875">
            <a:solidFill>
              <a:srgbClr val="26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3200400"/>
            <a:ext cx="512064" cy="9144"/>
          </a:xfrm>
          <a:prstGeom prst="line">
            <a:avLst/>
          </a:prstGeom>
          <a:noFill/>
          <a:ln w="15875">
            <a:solidFill>
              <a:srgbClr val="26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740664" y="3520440"/>
            <a:ext cx="219456" cy="347472"/>
          </a:xfrm>
          <a:prstGeom prst="line">
            <a:avLst/>
          </a:prstGeom>
          <a:noFill/>
          <a:ln w="15875">
            <a:solidFill>
              <a:srgbClr val="26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3520440"/>
            <a:ext cx="219456" cy="347472"/>
          </a:xfrm>
          <a:prstGeom prst="line">
            <a:avLst/>
          </a:prstGeom>
          <a:noFill/>
          <a:ln w="15875">
            <a:solidFill>
              <a:srgbClr val="26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" y="3904488"/>
            <a:ext cx="1645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</a:p>
        </p:txBody>
      </p:sp>
      <p:sp>
        <p:nvSpPr>
          <p:cNvPr id="10" name="Shape 8"/>
          <p:cNvSpPr/>
          <p:nvPr/>
        </p:nvSpPr>
        <p:spPr>
          <a:xfrm>
            <a:off x="10817352" y="269748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0" y="3008376"/>
            <a:ext cx="9144" cy="512064"/>
          </a:xfrm>
          <a:prstGeom prst="line">
            <a:avLst/>
          </a:prstGeom>
          <a:noFill/>
          <a:ln w="15875">
            <a:solidFill>
              <a:srgbClr val="2626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16768" y="3200400"/>
            <a:ext cx="512064" cy="9144"/>
          </a:xfrm>
          <a:prstGeom prst="line">
            <a:avLst/>
          </a:prstGeom>
          <a:noFill/>
          <a:ln w="15875">
            <a:solidFill>
              <a:srgbClr val="2626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10753344" y="3520440"/>
            <a:ext cx="219456" cy="347472"/>
          </a:xfrm>
          <a:prstGeom prst="line">
            <a:avLst/>
          </a:prstGeom>
          <a:noFill/>
          <a:ln w="15875">
            <a:solidFill>
              <a:srgbClr val="2626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3520440"/>
            <a:ext cx="219456" cy="347472"/>
          </a:xfrm>
          <a:prstGeom prst="line">
            <a:avLst/>
          </a:prstGeom>
          <a:noFill/>
          <a:ln w="15875">
            <a:solidFill>
              <a:srgbClr val="26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49840" y="3904488"/>
            <a:ext cx="1645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91640" y="1234440"/>
            <a:ext cx="8549640" cy="5074920"/>
          </a:xfrm>
          <a:prstGeom prst="rect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91640" y="1307592"/>
            <a:ext cx="85496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FitStack System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63140" y="1691640"/>
            <a:ext cx="2606040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36292" y="1691640"/>
            <a:ext cx="2459736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263140" y="2148840"/>
            <a:ext cx="26060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(includes: seed baseline target &amp; body metric)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63140" y="2459736"/>
            <a:ext cx="2606040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36292" y="2459736"/>
            <a:ext cx="2459736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63140" y="3008376"/>
            <a:ext cx="2606040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36292" y="3008376"/>
            <a:ext cx="2459736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Workout Set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263140" y="3465576"/>
            <a:ext cx="26060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(includes: detect personal record)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263140" y="3776472"/>
            <a:ext cx="2606040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36292" y="3776472"/>
            <a:ext cx="2459736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Workout Session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263140" y="4325112"/>
            <a:ext cx="2606040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36292" y="4325112"/>
            <a:ext cx="2459736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Edit Routine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77940" y="1691640"/>
            <a:ext cx="2606040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51092" y="1691640"/>
            <a:ext cx="2459736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Food Entry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77940" y="2148840"/>
            <a:ext cx="26060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(extends: create custom food)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377940" y="2459736"/>
            <a:ext cx="2606040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51092" y="2459736"/>
            <a:ext cx="2459736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Body Metric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77940" y="3008376"/>
            <a:ext cx="2606040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51092" y="3008376"/>
            <a:ext cx="2459736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Dashboard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377940" y="3465576"/>
            <a:ext cx="26060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(includes: weekly volume, plateaus, macro suggestion)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377940" y="3776472"/>
            <a:ext cx="2606040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51092" y="3776472"/>
            <a:ext cx="2459736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Nutrition Target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377940" y="4233672"/>
            <a:ext cx="26060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(includes: estimate TDEE)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377940" y="4544568"/>
            <a:ext cx="2606040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51092" y="4544568"/>
            <a:ext cx="2459736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Trainee Account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 flipV="1">
            <a:off x="960120" y="1911096"/>
            <a:ext cx="1303020" cy="1335024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960120" y="2679192"/>
            <a:ext cx="1303020" cy="566928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960120" y="3227832"/>
            <a:ext cx="1303020" cy="18288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60120" y="3246120"/>
            <a:ext cx="1303020" cy="749808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60120" y="3246120"/>
            <a:ext cx="1303020" cy="1298448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960120" y="1911096"/>
            <a:ext cx="5417820" cy="1335024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960120" y="2679192"/>
            <a:ext cx="5417820" cy="566928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960120" y="3227832"/>
            <a:ext cx="5417820" cy="18288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60120" y="3246120"/>
            <a:ext cx="5417820" cy="749808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H="1">
            <a:off x="8983980" y="3246120"/>
            <a:ext cx="1988820" cy="1517904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FitStack — DBMS Zeroth Review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520440"/>
            <a:ext cx="1127455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ER diagram image here ]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FitStack — DBMS Zeroth Review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22D1DD-984D-5597-47CB-C0CEC5D7A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472" y="868679"/>
            <a:ext cx="11683991" cy="53705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FDF640-971A-5400-2626-7C79B7395621}"/>
              </a:ext>
            </a:extLst>
          </p:cNvPr>
          <p:cNvSpPr txBox="1"/>
          <p:nvPr/>
        </p:nvSpPr>
        <p:spPr>
          <a:xfrm>
            <a:off x="121920" y="6305908"/>
            <a:ext cx="11851543" cy="250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30" i="1" dirty="0"/>
              <a:t>Image generated by Gemini , Verified by Precentors (Praneeth and Charith</a:t>
            </a:r>
            <a:r>
              <a:rPr lang="en-IN" sz="1030" i="1" dirty="0"/>
              <a:t>)</a:t>
            </a:r>
            <a:endParaRPr lang="en-US" sz="1030" i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188714-2023-64ED-4F2C-BFD950871CE2}"/>
              </a:ext>
            </a:extLst>
          </p:cNvPr>
          <p:cNvCxnSpPr>
            <a:cxnSpLocks/>
          </p:cNvCxnSpPr>
          <p:nvPr/>
        </p:nvCxnSpPr>
        <p:spPr>
          <a:xfrm flipH="1" flipV="1">
            <a:off x="3364302" y="1915064"/>
            <a:ext cx="1785668" cy="3657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 — Constraints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directly against the live database, not just the migration files.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33375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71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Applied 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profiles.goal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 IN ('bulk', 'cut', 'maintain')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onboarded OR (goal, goal_rate_kg_week, height_cm are all NOT NULL)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body_metrics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(user_id, log_date) — one weigh-in per user per 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DELETE CASCADE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workout_sets → workout_sessions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routine_exercises → routines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tables → auth.users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Deleting the parent row removes its children automatically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DELETE SET NULL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workout_sessions.routine_id → routines.id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Deleting a routine detaches past sessions instead of deleting them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FitStack — DBMS Zeroth Review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Schema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5577840" cy="5212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profiles(user_id_PK, name, goal, height,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onboarding_status, approval_status)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exercises(exercise_id_PK, name, muscle_group,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equipment, is_user_added, created_by_FK)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routines(routine_id_PK, user_id_FK, name, notes)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routine_exercises(routine_exercise_id_PK,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routine_id_FK, exercise_id_FK, order,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target_sets, target_reps)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workout_sessions(session_id_PK, user_id_FK,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routine_id_FK, date, start_time, end_time,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notes)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workout_sets(set_id_PK, session_id_FK,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exercise_id_FK, weight, reps, is_pr)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172200" y="1188720"/>
            <a:ext cx="5577840" cy="5212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foods(food_id_PK, user_id_FK, name,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calories_per_100g, protein, carbs, fat,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is_custom)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food_logs(food_log_id_PK, user_id_FK,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food_id_FK, quantity, meal_type, date)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nutrition_targets(target_id_PK, user_id_FK,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date, calorie_target, protein_target,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carbs_target, fat_target, source)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tdee_estimates(tdee_id_PK, user_id_FK, date,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estimated_tdee)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dismissed_suggestions(dismissal_id_PK,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user_id_FK, suggestion_type, dismissed_at)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body_metrics(metric_id_PK, user_id_FK, date,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weight, waist, chest, arm, photo_url)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FitStack — DBMS Zeroth Review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Blocks / Modules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74236" y="1188720"/>
            <a:ext cx="3840480" cy="594360"/>
          </a:xfrm>
          <a:prstGeom prst="rect">
            <a:avLst/>
          </a:prstGeom>
          <a:solidFill>
            <a:srgbClr val="EAEAEA"/>
          </a:solidFill>
          <a:ln w="15875">
            <a:solidFill>
              <a:srgbClr val="5959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65676" y="1243584"/>
            <a:ext cx="36576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Access Control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283964" y="1517904"/>
            <a:ext cx="3621024" cy="210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Signup, login, session, approval gate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99516" y="2148840"/>
            <a:ext cx="3383280" cy="777240"/>
          </a:xfrm>
          <a:prstGeom prst="rect">
            <a:avLst/>
          </a:prstGeom>
          <a:solidFill>
            <a:srgbClr val="F7E0DD"/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0956" y="2203704"/>
            <a:ext cx="32004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9244" y="2478024"/>
            <a:ext cx="3163824" cy="393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Exercises, routines, sessions, sets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02836" y="2148840"/>
            <a:ext cx="3383280" cy="777240"/>
          </a:xfrm>
          <a:prstGeom prst="rect">
            <a:avLst/>
          </a:prstGeom>
          <a:solidFill>
            <a:srgbClr val="E4EDE4"/>
          </a:solidFill>
          <a:ln w="15875">
            <a:solidFill>
              <a:srgbClr val="5B82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4276" y="2203704"/>
            <a:ext cx="32004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12564" y="2478024"/>
            <a:ext cx="3163824" cy="393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library, logging, targets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06156" y="2148840"/>
            <a:ext cx="3383280" cy="777240"/>
          </a:xfrm>
          <a:prstGeom prst="rect">
            <a:avLst/>
          </a:prstGeom>
          <a:solidFill>
            <a:srgbClr val="DCE6F0"/>
          </a:solidFill>
          <a:ln w="15875">
            <a:solidFill>
              <a:srgbClr val="3D5A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97596" y="2203704"/>
            <a:ext cx="32004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15884" y="2478024"/>
            <a:ext cx="3163824" cy="393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metrics, trend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59836" y="3337560"/>
            <a:ext cx="5669280" cy="685800"/>
          </a:xfrm>
          <a:prstGeom prst="rect">
            <a:avLst/>
          </a:prstGeom>
          <a:solidFill>
            <a:srgbClr val="F2F2F2"/>
          </a:solidFill>
          <a:ln w="15875">
            <a:solidFill>
              <a:srgbClr val="5959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1276" y="3392424"/>
            <a:ext cx="54864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Intelligence Engine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69564" y="3666744"/>
            <a:ext cx="5449824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TDEE estimation, PR / plateau detection, macro suggestions — computed in the application layer, not stored SQL logic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082796" y="4434840"/>
            <a:ext cx="4023360" cy="548640"/>
          </a:xfrm>
          <a:prstGeom prst="rect">
            <a:avLst/>
          </a:prstGeom>
          <a:solidFill>
            <a:srgbClr val="F2F2F2"/>
          </a:solidFill>
          <a:ln w="15875">
            <a:solidFill>
              <a:srgbClr val="5959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74236" y="4489704"/>
            <a:ext cx="38404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Aggregation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92524" y="4764024"/>
            <a:ext cx="3803904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Cross-module summary view, reads from all four modules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 flipH="1">
            <a:off x="2391156" y="1783080"/>
            <a:ext cx="3703320" cy="36576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6094476" y="1783080"/>
            <a:ext cx="0" cy="36576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94476" y="1783080"/>
            <a:ext cx="3703320" cy="36576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91156" y="2926080"/>
            <a:ext cx="3703320" cy="41148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94476" y="2926080"/>
            <a:ext cx="0" cy="41148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6094476" y="2926080"/>
            <a:ext cx="3703320" cy="41148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94476" y="4023360"/>
            <a:ext cx="9144" cy="41148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5257800"/>
            <a:ext cx="11274552" cy="6858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285232"/>
            <a:ext cx="109728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layer: 12 tables, RLS enabled on every one, CHECK/UNIQUE constraints, composite B-tree indexes. No custom backend server — the frontend queries Postgres directly via Supabase's auto-generated REST layer (PostgREST).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FitStack — DBMS Zeroth Review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DBMS Concepts Used — Access &amp; Performance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409547"/>
              </p:ext>
            </p:extLst>
          </p:nvPr>
        </p:nvGraphicFramePr>
        <p:xfrm>
          <a:off x="457200" y="1234440"/>
          <a:ext cx="11274552" cy="4023360"/>
        </p:xfrm>
        <a:graphic>
          <a:graphicData uri="http://schemas.openxmlformats.org/drawingml/2006/table">
            <a:tbl>
              <a:tblPr/>
              <a:tblGrid>
                <a:gridCol w="5852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2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Function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DBMS Concept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Per-user data isolation on every table, without relying on app code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Row-Level Security (USING / WITH CHECK, auth.uid())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Blocking writes from unapproved accounts on log/progress tables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RLS policy composed with an EXISTS subquery against profiles.approved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Auto-creating a profile row the instant a user signs up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(handle_new_user() on auth.users AFTER INSERT)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dashboard / date-range lookups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 B-tree indexes, e.g. (user_id, log_date)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Sessions-this-week count, weekly volume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Aggregate functions (COUNT, SUM) with GROUP BY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Attaching food facts to a log entry, exercise details to a routine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FitStack — DBMS Zeroth Review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Database Operations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four basic operations actually do inside FitStack — no raw SQL, just what happens.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53949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45336"/>
            <a:ext cx="5394960" cy="178308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36776"/>
            <a:ext cx="5029200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a new table when a feature is added. body_metrics, for example, was created to hold one weigh-in per user per day, linked to that user's account, with the one-per-day rule enforced automatically.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72200" y="1234440"/>
            <a:ext cx="53949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545336"/>
            <a:ext cx="5394960" cy="178308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636776"/>
            <a:ext cx="5029200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new data as the user acts. When someone logs a set at the gym, a new row goes into workout_sets with the weight, reps, and which exercise it was, tied to that workout session.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53949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694176"/>
            <a:ext cx="539496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785616"/>
            <a:ext cx="502920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existing data. When an admin approves a new signup, the matching row in profiles is updated so approved flips from false to true — unlocking the rest of the app for that user.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72200" y="3383280"/>
            <a:ext cx="53949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3694176"/>
            <a:ext cx="539496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3785616"/>
            <a:ext cx="502920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data. If a user logged a set by mistake, that row is deleted from workout_sets — and if a whole session is deleted, its sets are removed automatically with it.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FitStack — DBMS Zeroth Review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Verification — Supabase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constraint, policy, and index below was re-checked directly against the live database this session, not assumed from notes.</a:t>
            </a:r>
            <a:endParaRPr lang="en-US" sz="1100" dirty="0"/>
          </a:p>
        </p:txBody>
      </p:sp>
      <p:pic>
        <p:nvPicPr>
          <p:cNvPr id="4" name="Image 0" descr="/home/claude/fitstack_ppt/images/01_table_ed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1234440"/>
            <a:ext cx="3794760" cy="22697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48840" y="1234440"/>
            <a:ext cx="3794760" cy="2269784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148840" y="3540800"/>
            <a:ext cx="3794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Editor — body_metrics, live row, RLS policy active</a:t>
            </a:r>
            <a:endParaRPr lang="en-US" sz="1000" dirty="0"/>
          </a:p>
        </p:txBody>
      </p:sp>
      <p:pic>
        <p:nvPicPr>
          <p:cNvPr id="7" name="Image 1" descr="/home/claude/fitstack_ppt/images/02_profi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234440"/>
            <a:ext cx="3794760" cy="226978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309360" y="1234440"/>
            <a:ext cx="3794760" cy="2269784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309360" y="3540800"/>
            <a:ext cx="3794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Editor — profiles, with the approved flag</a:t>
            </a:r>
            <a:endParaRPr lang="en-US" sz="1000" dirty="0"/>
          </a:p>
        </p:txBody>
      </p:sp>
      <p:pic>
        <p:nvPicPr>
          <p:cNvPr id="10" name="Image 2" descr="/home/claude/fitstack_ppt/images/03_polici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8840" y="3840480"/>
            <a:ext cx="3794760" cy="226978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148840" y="3840480"/>
            <a:ext cx="3794760" cy="2269784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2148840" y="6146840"/>
            <a:ext cx="3794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→ Policies — RLS enabled per table</a:t>
            </a:r>
            <a:endParaRPr lang="en-US" sz="1000" dirty="0"/>
          </a:p>
        </p:txBody>
      </p:sp>
      <p:pic>
        <p:nvPicPr>
          <p:cNvPr id="13" name="Image 3" descr="/home/claude/fitstack_ppt/images/04_migrati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840480"/>
            <a:ext cx="3794760" cy="226978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309360" y="3840480"/>
            <a:ext cx="3794760" cy="2269784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6309360" y="6146840"/>
            <a:ext cx="3794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→ Migrations — version history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FitStack — DBMS Zeroth Review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Completed &amp; Initial Output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schema and access control are built and verified — not the whole product.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228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1033272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12-table relational schema designed and applied to a live Supabase/Postgres database via 8 sequential, version-controlled migrations.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139696"/>
            <a:ext cx="228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121408"/>
            <a:ext cx="1033272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enabled and policy-protected on every table — every constraint, index, trigger, and policy re-verified directly against the live database this session.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2889504"/>
            <a:ext cx="228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871216"/>
            <a:ext cx="1033272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(signup, login, session persistence) on Supabase Auth, with a working </a:t>
            </a:r>
            <a:r>
              <a:rPr lang="en-US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manual-approval</a:t>
            </a: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3516127"/>
            <a:ext cx="228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497839"/>
            <a:ext cx="1033272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TDEE estimator and PR / plateau detection logic implemented (EMA smoothing, Epley e1RM formula).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5138928"/>
            <a:ext cx="228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5120640"/>
            <a:ext cx="1033272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access-control defect found and fixed via direct testing: an RLS policy blocking new users from writing their own onboarding data, corrected in a dedicated migration and confirmed live.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FitStack — DBMS Zeroth Review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 / 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1014984"/>
            <a:ext cx="10927080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just a schema problem. Say someone does Leg Press and logs 30kg, 40kg, 50kg across three sets — we already capture that. But everyone trains differently: push/pull/legs, upper/lower, straight sets, training to failure — and people switch formats every few weeks. Before Review 2, we want a solid way to track progress across all of that, not just log numbers.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048256"/>
            <a:ext cx="54864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before Review 2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359152"/>
            <a:ext cx="228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340864"/>
            <a:ext cx="103327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3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Set-by-set progress views — e.g. compare Set 1 of Leg Press over the last 2 months, not just total volume. The data is already in workout_sets; this is a feature to build on top of it, not a schema change.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640080" y="2843784"/>
            <a:ext cx="228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825496"/>
            <a:ext cx="103327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3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 routine carry a training style tag (push/pull/legs, failure-based, etc.) so progress is compared fairly within the same style, not mixed across different formats.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640080" y="3328416"/>
            <a:ext cx="228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310128"/>
            <a:ext cx="103327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3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old routine structures when a user redesigns their split, instead of overwriting them — so switching formats monthly doesn't erase history.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640080" y="3813048"/>
            <a:ext cx="228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794760"/>
            <a:ext cx="103327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3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frontend to a public URL and onboard a small people group, to see how real, varied training styles actually stress this.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640080" y="4297680"/>
            <a:ext cx="228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4279392"/>
            <a:ext cx="103327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r>
              <a:rPr lang="en-US" sz="1030" dirty="0" err="1"/>
              <a:t>Boufgght</a:t>
            </a:r>
            <a:r>
              <a:rPr lang="en-US" sz="1030" dirty="0"/>
              <a:t> a domain </a:t>
            </a:r>
            <a:r>
              <a:rPr lang="en-IN" sz="1050" b="1" dirty="0"/>
              <a:t>weighsfit.in</a:t>
            </a:r>
          </a:p>
          <a:p>
            <a:pPr marL="0" indent="0" algn="l">
              <a:buNone/>
            </a:pPr>
            <a:r>
              <a:rPr lang="en-US" sz="1030" dirty="0"/>
              <a:t> thinking of automating  user approval as they sign in with their email by </a:t>
            </a:r>
            <a:r>
              <a:rPr lang="en-US" sz="1030" dirty="0" err="1"/>
              <a:t>sensding</a:t>
            </a:r>
            <a:r>
              <a:rPr lang="en-US" sz="1030" dirty="0"/>
              <a:t> email </a:t>
            </a:r>
          </a:p>
          <a:p>
            <a:pPr marL="0" indent="0" algn="l">
              <a:buNone/>
            </a:pP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40080" y="4782312"/>
            <a:ext cx="228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4764024"/>
            <a:ext cx="103327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457200" y="5358384"/>
            <a:ext cx="11274552" cy="841248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5422392"/>
            <a:ext cx="365760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1792" y="5660136"/>
            <a:ext cx="109270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3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FitStack already stores workout, nutrition, and progress data under one schema instead of three separate apps, with access rules enforced by the database itself. The next challenge isn't more tables — it's making the schema flexible enough for how differently everyone actually trains.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FitStack — DBMS Zeroth Review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108813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114800" y="3703320"/>
            <a:ext cx="3959352" cy="9144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86200"/>
            <a:ext cx="10881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Ashwathy Mam — DBMS (22AIE303)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FitStack — DBMS Zeroth Review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</TotalTime>
  <Words>2300</Words>
  <Application>Microsoft Office PowerPoint</Application>
  <PresentationFormat>Widescreen</PresentationFormat>
  <Paragraphs>277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MAMIDALA SOM PRANEETH BABU - [CB.SC.U4AIE24029]</cp:lastModifiedBy>
  <cp:revision>4</cp:revision>
  <dcterms:created xsi:type="dcterms:W3CDTF">2026-08-14T11:56:55Z</dcterms:created>
  <dcterms:modified xsi:type="dcterms:W3CDTF">2026-08-17T07:41:01Z</dcterms:modified>
</cp:coreProperties>
</file>